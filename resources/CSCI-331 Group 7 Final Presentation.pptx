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12b61237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12b61237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12b61237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12b61237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12b61237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12b61237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c8b76cba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c8b76cba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13973907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13973907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cf9e6fd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cf9e6fd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cd7f599f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cd7f599f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ce1942f3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ce1942f3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d124cbc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d124cbc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ce1942f3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ce1942f3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cd7f599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cd7f599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1397390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1397390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f9e6fdf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f9e6fdf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155f4dc5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155f4dc5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155f4dc5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155f4dc5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c8b76cba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c8b76cba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efda34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cefda34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cf9e6fd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cf9e6fd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c8b76cba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c8b76cba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cd7f599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cd7f599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c7edae1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c7edae1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MchE11bnqA26qAi_V8rsJ2-G5t0EuEk1/view" TargetMode="External"/><Relationship Id="rId4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G5zbmFJ5Ot8Xv3A_3G518QWA_yu-eCy5/view" TargetMode="External"/><Relationship Id="rId4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lassic.play2048.co/" TargetMode="External"/><Relationship Id="rId4" Type="http://schemas.openxmlformats.org/officeDocument/2006/relationships/hyperlink" Target="https://youtu.be/0fOLkZJ-Q6I?si=xEpKZ95S0Lz_9jlZ" TargetMode="External"/><Relationship Id="rId5" Type="http://schemas.openxmlformats.org/officeDocument/2006/relationships/hyperlink" Target="https://github.com/mschrandt/2048" TargetMode="External"/><Relationship Id="rId6" Type="http://schemas.openxmlformats.org/officeDocument/2006/relationships/hyperlink" Target="https://stackoverflow.com/questions/22342854/what-is-the-optimal-algorithm-for-the-game-2048" TargetMode="External"/><Relationship Id="rId7" Type="http://schemas.openxmlformats.org/officeDocument/2006/relationships/hyperlink" Target="https://inst.eecs.berkeley.edu/~cs188/textbook/games/expectimax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geeksforgeeks.org/machine-learning/ml-monte-carlo-tree-search-mcts/" TargetMode="External"/><Relationship Id="rId4" Type="http://schemas.openxmlformats.org/officeDocument/2006/relationships/hyperlink" Target="https://en.wikipedia.org/wiki/Monte_Carlo_tree_search" TargetMode="External"/><Relationship Id="rId10" Type="http://schemas.openxmlformats.org/officeDocument/2006/relationships/hyperlink" Target="https://www.chessprogramming.org/UCT" TargetMode="External"/><Relationship Id="rId9" Type="http://schemas.openxmlformats.org/officeDocument/2006/relationships/hyperlink" Target="https://stackoverflow.com/questions/57359229/ucb-formula-for-monte-carlo-tree-search-when-score-is-between-0-and-n" TargetMode="External"/><Relationship Id="rId5" Type="http://schemas.openxmlformats.org/officeDocument/2006/relationships/hyperlink" Target="https://www.youtube.com/watch?v=Fbs4lnGLS8M" TargetMode="External"/><Relationship Id="rId6" Type="http://schemas.openxmlformats.org/officeDocument/2006/relationships/hyperlink" Target="https://www.youtube.com/watch?v=UXW2yZndl7U" TargetMode="External"/><Relationship Id="rId7" Type="http://schemas.openxmlformats.org/officeDocument/2006/relationships/hyperlink" Target="https://www.youtube.com/watch?v=62nq4Zsn8vc&amp;t=1017s" TargetMode="External"/><Relationship Id="rId8" Type="http://schemas.openxmlformats.org/officeDocument/2006/relationships/hyperlink" Target="https://www.youtube.com/watch?v=BEFY7IHs0HM&amp;t=556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26025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Solving 2048 Through AI</a:t>
            </a:r>
            <a:endParaRPr sz="48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15350" y="3157300"/>
            <a:ext cx="3857700" cy="17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By </a:t>
            </a:r>
            <a:r>
              <a:rPr lang="en" sz="1600"/>
              <a:t>Peter Dang, </a:t>
            </a:r>
            <a:r>
              <a:rPr lang="en" sz="1600"/>
              <a:t>Katie </a:t>
            </a:r>
            <a:r>
              <a:rPr lang="en" sz="1600"/>
              <a:t>Richardson</a:t>
            </a:r>
            <a:r>
              <a:rPr lang="en" sz="1600"/>
              <a:t>, and Nathan Russo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CSCI-331 Introduction to Artificial Intelligence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Section 6, Group 7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12/5/2025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is 2048?</a:t>
            </a:r>
            <a:endParaRPr sz="36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07850"/>
            <a:ext cx="4659000" cy="3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2048 is a game with the goal of generating the highest numbered piece on a 4x4 board.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All pieces on the board have a value of 2^n.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initial board is generated with a 2 or 4 (twice) in a random open location.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player </a:t>
            </a:r>
            <a:r>
              <a:rPr lang="en" sz="1600"/>
              <a:t>slides </a:t>
            </a:r>
            <a:r>
              <a:rPr lang="en" sz="1600"/>
              <a:t>the pieces in a </a:t>
            </a:r>
            <a:r>
              <a:rPr lang="en" sz="1600"/>
              <a:t>cardinal</a:t>
            </a:r>
            <a:r>
              <a:rPr lang="en" sz="1600"/>
              <a:t> directions, </a:t>
            </a:r>
            <a:r>
              <a:rPr lang="en" sz="1600"/>
              <a:t>combining equal pieces into the sum of their parts.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After each shift, a 2 or 4 is placed in a random open cell on the board.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Despite its name, the 2048 can continue after the 2048 (2^11) piece is generated.</a:t>
            </a:r>
            <a:endParaRPr sz="1600"/>
          </a:p>
        </p:txBody>
      </p:sp>
      <p:pic>
        <p:nvPicPr>
          <p:cNvPr id="142" name="Google Shape;142;p14" title="20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1700" y="2007012"/>
            <a:ext cx="2114700" cy="2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Searching</a:t>
            </a:r>
            <a:r>
              <a:rPr lang="en" sz="3600"/>
              <a:t> to Solve 2048</a:t>
            </a:r>
            <a:endParaRPr sz="3600"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07850"/>
            <a:ext cx="4725300" cy="34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this project, our group was tasked with implementing </a:t>
            </a:r>
            <a:r>
              <a:rPr lang="en" sz="1600" u="sng"/>
              <a:t>2 search </a:t>
            </a:r>
            <a:r>
              <a:rPr lang="en" sz="1600" u="sng"/>
              <a:t>algorithms</a:t>
            </a:r>
            <a:r>
              <a:rPr lang="en" sz="1600"/>
              <a:t> that </a:t>
            </a:r>
            <a:r>
              <a:rPr lang="en" sz="1600"/>
              <a:t>could achieve the 2048 square on their own.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Despite the </a:t>
            </a:r>
            <a:r>
              <a:rPr lang="en" sz="1600"/>
              <a:t>board having only 16 cells, the random generation, placement, &amp; probability of a 2 or 4 posed </a:t>
            </a:r>
            <a:r>
              <a:rPr lang="en" sz="1600"/>
              <a:t>an interesting challenge.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After each shift, there are 2 * (# of open cells) possible boards. Additionally,  2’s spawn with a 90% probability while 4’s spawn with 10%.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group decided to implement </a:t>
            </a:r>
            <a:r>
              <a:rPr lang="en" sz="1600"/>
              <a:t>the </a:t>
            </a:r>
            <a:r>
              <a:rPr lang="en" sz="1600" u="sng"/>
              <a:t>Expectiminimax</a:t>
            </a:r>
            <a:r>
              <a:rPr lang="en" sz="1600" u="sng"/>
              <a:t> (EMM)</a:t>
            </a:r>
            <a:r>
              <a:rPr lang="en" sz="1600"/>
              <a:t> </a:t>
            </a:r>
            <a:r>
              <a:rPr lang="en" sz="1600"/>
              <a:t>and </a:t>
            </a:r>
            <a:r>
              <a:rPr lang="en" sz="1600" u="sng"/>
              <a:t>Monte Carlo Tree Search (MCTS)</a:t>
            </a:r>
            <a:r>
              <a:rPr lang="en" sz="1600"/>
              <a:t> algorithms to solve 2048.</a:t>
            </a:r>
            <a:endParaRPr sz="1600"/>
          </a:p>
        </p:txBody>
      </p:sp>
      <p:pic>
        <p:nvPicPr>
          <p:cNvPr id="149" name="Google Shape;149;p15" title="2048_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1700" y="1995413"/>
            <a:ext cx="2114700" cy="2111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is Expectiminimax?</a:t>
            </a:r>
            <a:endParaRPr sz="3600"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307850"/>
            <a:ext cx="5640000" cy="29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Expectiminimax</a:t>
            </a:r>
            <a:r>
              <a:rPr lang="en" sz="1600"/>
              <a:t> (EMM)- A modification of minimax that takes into account randomness.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Max Player (MaxP): Normal player who is sliding pieces.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Min Player (MinP): The spawning of the 2 and 4 pieces.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effectiveness of EMM is dependent on its search DEPTH.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larger the DEPTH, the better EMM performed but the longer each decision takes.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our computers, 3 or 4 is a good DEPTH, but that value can be taken higher if time is not an constraint.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How does EMM Work?</a:t>
            </a:r>
            <a:endParaRPr sz="3600"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612825"/>
            <a:ext cx="3373200" cy="13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Algorithm: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DEPTH = 0: The value of the board is calculated using a </a:t>
            </a:r>
            <a:r>
              <a:rPr lang="en" sz="1600" u="sng"/>
              <a:t>snake heuristic</a:t>
            </a:r>
            <a:r>
              <a:rPr lang="en" sz="1600"/>
              <a:t> and returned. </a:t>
            </a:r>
            <a:endParaRPr sz="1600"/>
          </a:p>
        </p:txBody>
      </p:sp>
      <p:pic>
        <p:nvPicPr>
          <p:cNvPr id="162" name="Google Shape;162;p17" title="snake_heurist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676" y="1307851"/>
            <a:ext cx="3446725" cy="149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" name="Google Shape;163;p17"/>
          <p:cNvSpPr txBox="1"/>
          <p:nvPr/>
        </p:nvSpPr>
        <p:spPr>
          <a:xfrm>
            <a:off x="1297500" y="2805950"/>
            <a:ext cx="70389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MaxP’s Turn: The 4 cardinal moves are simulated, and EMM is called on each new board with depth - 1. Then it returns the best board value of the 4 moves. 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MinP’s Turn: All open cells placements are simulated, and EMM is called for both a 2 or 4 placement with depth - 1. The weighted average of the 2 and 4 boards is taken, and the average score of all open cells is returned.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Expectiminimax</a:t>
            </a:r>
            <a:r>
              <a:rPr lang="en" sz="4200"/>
              <a:t> Demo</a:t>
            </a:r>
            <a:endParaRPr sz="4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title="expectiminimax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2138" y="1254975"/>
            <a:ext cx="6259722" cy="3521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>
            <p:ph type="title"/>
          </p:nvPr>
        </p:nvSpPr>
        <p:spPr>
          <a:xfrm>
            <a:off x="1052550" y="404525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Expectiminimax Demo - 3s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is Monte Carlo?</a:t>
            </a:r>
            <a:endParaRPr sz="3600"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1297500" y="1307850"/>
            <a:ext cx="3664800" cy="3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Monte Carlo Tree Search</a:t>
            </a:r>
            <a:r>
              <a:rPr lang="en" sz="1600"/>
              <a:t> (MCTS)- A search tree algorithm that uses simulations of the game board to approximate the best move.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MCTS works on 4 general steps repeated in order: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Select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Expand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Simulation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Backpropagation</a:t>
            </a:r>
            <a:endParaRPr b="1" sz="1600" u="sng"/>
          </a:p>
        </p:txBody>
      </p:sp>
      <p:pic>
        <p:nvPicPr>
          <p:cNvPr id="181" name="Google Shape;181;p20"/>
          <p:cNvPicPr preferRelativeResize="0"/>
          <p:nvPr/>
        </p:nvPicPr>
        <p:blipFill rotWithShape="1">
          <a:blip r:embed="rId3">
            <a:alphaModFix/>
          </a:blip>
          <a:srcRect b="10913" l="0" r="50000" t="0"/>
          <a:stretch/>
        </p:blipFill>
        <p:spPr>
          <a:xfrm>
            <a:off x="5326744" y="1307850"/>
            <a:ext cx="3009654" cy="16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48333" r="0" t="0"/>
          <a:stretch/>
        </p:blipFill>
        <p:spPr>
          <a:xfrm>
            <a:off x="5326750" y="3052123"/>
            <a:ext cx="3009649" cy="179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MCTS Step 1 - Select</a:t>
            </a:r>
            <a:endParaRPr sz="3600"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1297500" y="1307900"/>
            <a:ext cx="4075800" cy="3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the </a:t>
            </a:r>
            <a:r>
              <a:rPr lang="en" sz="1600" u="sng"/>
              <a:t>Select Phase</a:t>
            </a:r>
            <a:r>
              <a:rPr lang="en" sz="1600"/>
              <a:t>, starting from the root node, the tree keeps choosing a </a:t>
            </a:r>
            <a:r>
              <a:rPr lang="en" sz="1600"/>
              <a:t>child</a:t>
            </a:r>
            <a:r>
              <a:rPr lang="en" sz="1600"/>
              <a:t> node until that node is either: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Not fully expanded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 a terminal state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child node chosen is based on the highest </a:t>
            </a:r>
            <a:r>
              <a:rPr lang="en" sz="1600" u="sng"/>
              <a:t>UCB1</a:t>
            </a:r>
            <a:r>
              <a:rPr lang="en" sz="1600"/>
              <a:t> value. </a:t>
            </a:r>
            <a:r>
              <a:rPr lang="en" sz="1600"/>
              <a:t>This formula balances the following attributes: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/>
              <a:t>Exploitation</a:t>
            </a:r>
            <a:r>
              <a:rPr lang="en" sz="1600"/>
              <a:t>: How well has the child node performed so far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/>
              <a:t>Exploration</a:t>
            </a:r>
            <a:r>
              <a:rPr lang="en" sz="1600"/>
              <a:t>: How often has the child node been visited</a:t>
            </a:r>
            <a:endParaRPr sz="1600"/>
          </a:p>
        </p:txBody>
      </p:sp>
      <p:pic>
        <p:nvPicPr>
          <p:cNvPr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75463" t="0"/>
          <a:stretch/>
        </p:blipFill>
        <p:spPr>
          <a:xfrm>
            <a:off x="5402700" y="1307850"/>
            <a:ext cx="2933699" cy="36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9300" y="3921025"/>
            <a:ext cx="2820499" cy="10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MCTS Step </a:t>
            </a:r>
            <a:r>
              <a:rPr lang="en" sz="3600"/>
              <a:t>2 - Expand</a:t>
            </a:r>
            <a:endParaRPr sz="3600"/>
          </a:p>
        </p:txBody>
      </p:sp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1297500" y="1307850"/>
            <a:ext cx="3837300" cy="3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Once the tree reaches the node that is not fully expanded, MCTS will add a child node to represent a possible action from that node.</a:t>
            </a:r>
            <a:endParaRPr sz="1600"/>
          </a:p>
        </p:txBody>
      </p:sp>
      <p:pic>
        <p:nvPicPr>
          <p:cNvPr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25071" r="50392" t="0"/>
          <a:stretch/>
        </p:blipFill>
        <p:spPr>
          <a:xfrm>
            <a:off x="5402713" y="1307813"/>
            <a:ext cx="2933699" cy="36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/>
          <p:nvPr/>
        </p:nvSpPr>
        <p:spPr>
          <a:xfrm>
            <a:off x="5482275" y="4098475"/>
            <a:ext cx="674400" cy="39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MCTS</a:t>
            </a:r>
            <a:r>
              <a:rPr lang="en" sz="3600"/>
              <a:t> Step 3 - Simulation</a:t>
            </a:r>
            <a:endParaRPr sz="3600"/>
          </a:p>
        </p:txBody>
      </p:sp>
      <p:sp>
        <p:nvSpPr>
          <p:cNvPr id="204" name="Google Shape;204;p23"/>
          <p:cNvSpPr txBox="1"/>
          <p:nvPr>
            <p:ph idx="1" type="body"/>
          </p:nvPr>
        </p:nvSpPr>
        <p:spPr>
          <a:xfrm>
            <a:off x="1297500" y="1307850"/>
            <a:ext cx="3850500" cy="3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Then from that child node, the model will play out the 2048 game until no more legal moves can be found or the maximum limit depth has been reached.</a:t>
            </a:r>
            <a:endParaRPr sz="1600"/>
          </a:p>
        </p:txBody>
      </p:sp>
      <p:pic>
        <p:nvPicPr>
          <p:cNvPr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50495" r="24968" t="0"/>
          <a:stretch/>
        </p:blipFill>
        <p:spPr>
          <a:xfrm>
            <a:off x="5402700" y="1307838"/>
            <a:ext cx="2933699" cy="36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/>
          <p:nvPr/>
        </p:nvSpPr>
        <p:spPr>
          <a:xfrm>
            <a:off x="5613350" y="4458100"/>
            <a:ext cx="674400" cy="39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1297500" y="393750"/>
            <a:ext cx="7846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MCTS Step 4 - Backpropagation</a:t>
            </a:r>
            <a:endParaRPr sz="3600"/>
          </a:p>
        </p:txBody>
      </p:sp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1297500" y="1307850"/>
            <a:ext cx="3823800" cy="3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And last, the end result from the simulation is propagated back up the tree.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each parent node, the visit count and score is updated.</a:t>
            </a:r>
            <a:endParaRPr sz="1600"/>
          </a:p>
        </p:txBody>
      </p:sp>
      <p:pic>
        <p:nvPicPr>
          <p:cNvPr id="213" name="Google Shape;213;p24"/>
          <p:cNvPicPr preferRelativeResize="0"/>
          <p:nvPr/>
        </p:nvPicPr>
        <p:blipFill rotWithShape="1">
          <a:blip r:embed="rId3">
            <a:alphaModFix/>
          </a:blip>
          <a:srcRect b="0" l="75728" r="-264" t="0"/>
          <a:stretch/>
        </p:blipFill>
        <p:spPr>
          <a:xfrm>
            <a:off x="5402713" y="1307838"/>
            <a:ext cx="2933699" cy="36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4"/>
          <p:cNvPicPr preferRelativeResize="0"/>
          <p:nvPr/>
        </p:nvPicPr>
        <p:blipFill rotWithShape="1">
          <a:blip r:embed="rId3">
            <a:alphaModFix/>
          </a:blip>
          <a:srcRect b="0" l="75728" r="-264" t="0"/>
          <a:stretch/>
        </p:blipFill>
        <p:spPr>
          <a:xfrm>
            <a:off x="5402725" y="1307850"/>
            <a:ext cx="2933699" cy="367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Monte Carlo Demo</a:t>
            </a:r>
            <a:endParaRPr sz="4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6" title="MTC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9837" y="1057963"/>
            <a:ext cx="7184326" cy="404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 txBox="1"/>
          <p:nvPr>
            <p:ph type="title"/>
          </p:nvPr>
        </p:nvSpPr>
        <p:spPr>
          <a:xfrm>
            <a:off x="1052550" y="275125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Expectiminimax Demo - 179s</a:t>
            </a:r>
            <a:endParaRPr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Results - Expectiminimax</a:t>
            </a:r>
            <a:endParaRPr sz="3600"/>
          </a:p>
        </p:txBody>
      </p:sp>
      <p:pic>
        <p:nvPicPr>
          <p:cNvPr id="231" name="Google Shape;231;p27" title="emm_graph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5" y="1454000"/>
            <a:ext cx="4425976" cy="26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 title="emm_graph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5363" y="1454000"/>
            <a:ext cx="4471511" cy="26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Results - </a:t>
            </a:r>
            <a:r>
              <a:rPr lang="en" sz="3600"/>
              <a:t> Monte Carlo</a:t>
            </a:r>
            <a:endParaRPr sz="3600"/>
          </a:p>
        </p:txBody>
      </p:sp>
      <p:pic>
        <p:nvPicPr>
          <p:cNvPr id="238" name="Google Shape;238;p28" title="mcts_graph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5" y="1454000"/>
            <a:ext cx="4499725" cy="2609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8" title="mcts_graph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575" y="1454000"/>
            <a:ext cx="4346299" cy="26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1297500" y="1307850"/>
            <a:ext cx="2993400" cy="3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Expectiminimax with a search depth of 3 scores higher than any of the Monte Carlo Tree Search simulation depth/counts we have tested thus far.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Expectiminimax also had a higher score-to-runtime ratio </a:t>
            </a:r>
            <a:r>
              <a:rPr lang="en" sz="1600"/>
              <a:t>compared</a:t>
            </a:r>
            <a:r>
              <a:rPr lang="en" sz="1600"/>
              <a:t> to Monte Carlo Tree Search.</a:t>
            </a:r>
            <a:endParaRPr sz="1600"/>
          </a:p>
        </p:txBody>
      </p:sp>
      <p:sp>
        <p:nvSpPr>
          <p:cNvPr id="245" name="Google Shape;245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Conclusions on Data</a:t>
            </a:r>
            <a:endParaRPr sz="3600"/>
          </a:p>
        </p:txBody>
      </p:sp>
      <p:pic>
        <p:nvPicPr>
          <p:cNvPr id="246" name="Google Shape;246;p29" title="emm_data.png"/>
          <p:cNvPicPr preferRelativeResize="0"/>
          <p:nvPr/>
        </p:nvPicPr>
        <p:blipFill rotWithShape="1">
          <a:blip r:embed="rId3">
            <a:alphaModFix/>
          </a:blip>
          <a:srcRect b="0" l="0" r="0" t="2572"/>
          <a:stretch/>
        </p:blipFill>
        <p:spPr>
          <a:xfrm>
            <a:off x="4402575" y="1307850"/>
            <a:ext cx="4037617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 title="mcts_da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2575" y="3020700"/>
            <a:ext cx="432435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Conclusions on Theory</a:t>
            </a:r>
            <a:endParaRPr sz="3600"/>
          </a:p>
        </p:txBody>
      </p:sp>
      <p:sp>
        <p:nvSpPr>
          <p:cNvPr id="253" name="Google Shape;253;p30"/>
          <p:cNvSpPr txBox="1"/>
          <p:nvPr>
            <p:ph idx="1" type="body"/>
          </p:nvPr>
        </p:nvSpPr>
        <p:spPr>
          <a:xfrm>
            <a:off x="1297500" y="1315250"/>
            <a:ext cx="7038900" cy="3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time complexity for </a:t>
            </a:r>
            <a:r>
              <a:rPr lang="en" sz="1600" u="sng"/>
              <a:t>Expectiminimax (EMM)</a:t>
            </a:r>
            <a:r>
              <a:rPr lang="en" sz="1600" u="sng"/>
              <a:t> </a:t>
            </a:r>
            <a:r>
              <a:rPr lang="en" sz="1600"/>
              <a:t>is </a:t>
            </a:r>
            <a:r>
              <a:rPr lang="en" sz="1600" u="sng"/>
              <a:t>O(b^d)</a:t>
            </a:r>
            <a:r>
              <a:rPr lang="en" sz="1600"/>
              <a:t> where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 is the branching factor (how many branches from given state)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</a:t>
            </a:r>
            <a:r>
              <a:rPr lang="en" sz="1600"/>
              <a:t> is the depth for the search tree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time complexity for </a:t>
            </a:r>
            <a:r>
              <a:rPr lang="en" sz="1600" u="sng"/>
              <a:t>Monte Carlo Tree Search</a:t>
            </a:r>
            <a:r>
              <a:rPr lang="en" sz="1600"/>
              <a:t> is </a:t>
            </a:r>
            <a:r>
              <a:rPr lang="en" sz="1600" u="sng"/>
              <a:t>O(s*d)</a:t>
            </a:r>
            <a:r>
              <a:rPr lang="en" sz="1600"/>
              <a:t> where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 is the total number of simulations for each state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 is how many steps the board needed to simulate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2048 favors EMM much more due to its small branching factor.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MCTS would have performed better than EMM in a game where there were more options to move the player, such as Chess.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Alpha Zero use a neural network and the MCTS algorithm.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Potential</a:t>
            </a:r>
            <a:r>
              <a:rPr lang="en" sz="3600"/>
              <a:t> Improvements</a:t>
            </a:r>
            <a:endParaRPr sz="3600"/>
          </a:p>
        </p:txBody>
      </p:sp>
      <p:sp>
        <p:nvSpPr>
          <p:cNvPr id="259" name="Google Shape;259;p31"/>
          <p:cNvSpPr txBox="1"/>
          <p:nvPr>
            <p:ph idx="1" type="body"/>
          </p:nvPr>
        </p:nvSpPr>
        <p:spPr>
          <a:xfrm>
            <a:off x="1327150" y="1567550"/>
            <a:ext cx="70389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Better </a:t>
            </a:r>
            <a:r>
              <a:rPr lang="en" sz="1600"/>
              <a:t>heuristic</a:t>
            </a:r>
            <a:r>
              <a:rPr lang="en" sz="1600"/>
              <a:t> for 2048 in Monte Carlo Tree Search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Apply Alpha Beta pruning for Expectiminimax</a:t>
            </a:r>
            <a:endParaRPr sz="1600"/>
          </a:p>
        </p:txBody>
      </p:sp>
      <p:pic>
        <p:nvPicPr>
          <p:cNvPr id="260" name="Google Shape;260;p31" title="2048_snake_dou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150" y="2766050"/>
            <a:ext cx="4170271" cy="207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1" title="board_bonus_heuristi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3746" y="2766050"/>
            <a:ext cx="2072650" cy="207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References</a:t>
            </a:r>
            <a:r>
              <a:rPr lang="en" sz="3600"/>
              <a:t> and Sources (</a:t>
            </a:r>
            <a:r>
              <a:rPr lang="en" sz="3600"/>
              <a:t>1/2</a:t>
            </a:r>
            <a:r>
              <a:rPr lang="en" sz="3600"/>
              <a:t>)</a:t>
            </a:r>
            <a:endParaRPr sz="3600"/>
          </a:p>
        </p:txBody>
      </p:sp>
      <p:sp>
        <p:nvSpPr>
          <p:cNvPr id="267" name="Google Shape;267;p32"/>
          <p:cNvSpPr txBox="1"/>
          <p:nvPr>
            <p:ph idx="1" type="body"/>
          </p:nvPr>
        </p:nvSpPr>
        <p:spPr>
          <a:xfrm>
            <a:off x="1297500" y="1307850"/>
            <a:ext cx="7038900" cy="36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/>
              <a:t>2048 Game Example</a:t>
            </a:r>
            <a:r>
              <a:rPr lang="en" sz="1600"/>
              <a:t>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https://classic.play2048.co/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/>
              <a:t>Expectiminimax</a:t>
            </a:r>
            <a:r>
              <a:rPr lang="en" sz="1600"/>
              <a:t>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https://youtu.be/0fOLkZJ-Q6I?si=xEpKZ95S0Lz_9jlZ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5"/>
              </a:rPr>
              <a:t>https://github.com/mschrandt/2048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6"/>
              </a:rPr>
              <a:t>https://stackoverflow.com/questions/22342854/what-is-the-optimal-algorithm-for-the-game-2048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7"/>
              </a:rPr>
              <a:t>https://inst.eecs.berkeley.edu/~cs188/textbook/games/expectimax.html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References and Sources (2/2)</a:t>
            </a:r>
            <a:endParaRPr sz="3600"/>
          </a:p>
        </p:txBody>
      </p:sp>
      <p:sp>
        <p:nvSpPr>
          <p:cNvPr id="273" name="Google Shape;273;p33"/>
          <p:cNvSpPr txBox="1"/>
          <p:nvPr>
            <p:ph idx="1" type="body"/>
          </p:nvPr>
        </p:nvSpPr>
        <p:spPr>
          <a:xfrm>
            <a:off x="1297500" y="1307850"/>
            <a:ext cx="7038900" cy="36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/>
              <a:t>Monte Carlo</a:t>
            </a:r>
            <a:r>
              <a:rPr lang="en" sz="1600"/>
              <a:t>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https://www.geeksforgeeks.org/machine-learning/ml-monte-carlo-tree-search-mcts/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https://en.wikipedia.org/wiki/Monte_Carlo_tree_search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5"/>
              </a:rPr>
              <a:t>https://www.youtube.com/watch?v=Fbs4lnGLS8M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6"/>
              </a:rPr>
              <a:t>https://www.youtube.com/watch?v=UXW2yZndl7U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7"/>
              </a:rPr>
              <a:t>https://www.youtube.com/watch?v=62nq4Zsn8vc&amp;t=1017s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8"/>
              </a:rPr>
              <a:t>https://www.youtube.com/watch?v=BEFY7IHs0HM&amp;t=556s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9"/>
              </a:rPr>
              <a:t>https://stackoverflow.com/questions/57359229/ucb-formula-for-monte-carlo-tree-search-when-score-is-between-0-and-n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10"/>
              </a:rPr>
              <a:t>https://www.chessprogramming.org/UCT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Thank You!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